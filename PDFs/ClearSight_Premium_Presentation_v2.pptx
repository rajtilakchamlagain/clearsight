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0F3C96"/>
                </a:solidFill>
                <a:latin typeface="Arial"/>
              </a:defRPr>
            </a:pPr>
            <a:r>
              <a:t>ClearSight AI</a:t>
            </a:r>
          </a:p>
          <a:p>
            <a:pPr algn="ctr">
              <a:spcBef>
                <a:spcPts val="2000"/>
              </a:spcBef>
              <a:defRPr sz="3200">
                <a:solidFill>
                  <a:srgbClr val="1E1E1E"/>
                </a:solidFill>
              </a:defRPr>
            </a:pPr>
            <a:r>
              <a:t>Autonomous Kinetic &amp; Biometric Re-Identification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505050"/>
                </a:solidFill>
              </a:defRPr>
            </a:pPr>
            <a:r>
              <a:t>Submitted By: Rajtilak Chamlagain</a:t>
            </a:r>
            <a:br/>
            <a:r>
              <a:t>Under Guidance of: Dr. Mahapara Khursid</a:t>
            </a:r>
            <a:br/>
            <a:r>
              <a:t>TIH–TIDF, IIT Guwahati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F3C96"/>
                </a:solidFill>
                <a:latin typeface="Arial"/>
              </a:defRPr>
            </a:pPr>
            <a:r>
              <a:t>The Surveillance Dilemma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1E1E1E"/>
                </a:solidFill>
                <a:latin typeface="Arial"/>
              </a:defRPr>
            </a:pPr>
            <a:r>
              <a:t>Crowd Occlusions: Targets hide behind pillars; basic trackers lose identity.</a:t>
            </a:r>
          </a:p>
          <a:p>
            <a:pPr>
              <a:spcAft>
                <a:spcPts val="1400"/>
              </a:spcAft>
              <a:defRPr sz="2400">
                <a:solidFill>
                  <a:srgbClr val="1E1E1E"/>
                </a:solidFill>
                <a:latin typeface="Arial"/>
              </a:defRPr>
            </a:pPr>
            <a:r>
              <a:t>Environmental Chaos: Shadows and steep angles destroy standard pixel matching.</a:t>
            </a:r>
          </a:p>
          <a:p>
            <a:pPr>
              <a:spcAft>
                <a:spcPts val="1400"/>
              </a:spcAft>
              <a:defRPr sz="2400">
                <a:solidFill>
                  <a:srgbClr val="1E1E1E"/>
                </a:solidFill>
                <a:latin typeface="Arial"/>
              </a:defRPr>
            </a:pPr>
            <a:r>
              <a:t>Static Thresholds: Guessing match limits causes false arrests in the dark.</a:t>
            </a:r>
          </a:p>
          <a:p>
            <a:pPr>
              <a:spcAft>
                <a:spcPts val="1400"/>
              </a:spcAft>
              <a:defRPr sz="2400">
                <a:solidFill>
                  <a:srgbClr val="1E1E1E"/>
                </a:solidFill>
                <a:latin typeface="Arial"/>
              </a:defRPr>
            </a:pPr>
            <a:r>
              <a:t>Browser Overload: Traditional Base64 evidence rendering freezes police laptops.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F3C96"/>
                </a:solidFill>
                <a:latin typeface="Arial"/>
              </a:defRPr>
            </a:pPr>
            <a:r>
              <a:t>5-Phase Architecture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1E1E1E"/>
                </a:solidFill>
                <a:latin typeface="Arial"/>
              </a:defRPr>
            </a:pPr>
            <a:r>
              <a:t>Phase 1: Biometric Encoding (RetinaFace + ArcFace)</a:t>
            </a:r>
          </a:p>
          <a:p>
            <a:pPr>
              <a:spcAft>
                <a:spcPts val="1400"/>
              </a:spcAft>
              <a:defRPr sz="2400">
                <a:solidFill>
                  <a:srgbClr val="1E1E1E"/>
                </a:solidFill>
                <a:latin typeface="Arial"/>
              </a:defRPr>
            </a:pPr>
            <a:r>
              <a:t>Phase 2: Kinetic Localization (YOLOv8 + ByteTrack)</a:t>
            </a:r>
          </a:p>
          <a:p>
            <a:pPr>
              <a:spcAft>
                <a:spcPts val="1400"/>
              </a:spcAft>
              <a:defRPr sz="2400">
                <a:solidFill>
                  <a:srgbClr val="1E1E1E"/>
                </a:solidFill>
                <a:latin typeface="Arial"/>
              </a:defRPr>
            </a:pPr>
            <a:r>
              <a:t>Phase 3: Unsupervised Selection (Autonomous Spectral Gap Engine)</a:t>
            </a:r>
          </a:p>
          <a:p>
            <a:pPr>
              <a:spcAft>
                <a:spcPts val="1400"/>
              </a:spcAft>
              <a:defRPr sz="2400">
                <a:solidFill>
                  <a:srgbClr val="1E1E1E"/>
                </a:solidFill>
                <a:latin typeface="Arial"/>
              </a:defRPr>
            </a:pPr>
            <a:r>
              <a:t>Phase 4: Evidence Synthesis (3x Slow-Motion Reconstructor)</a:t>
            </a:r>
          </a:p>
          <a:p>
            <a:pPr>
              <a:spcAft>
                <a:spcPts val="1400"/>
              </a:spcAft>
              <a:defRPr sz="2400">
                <a:solidFill>
                  <a:srgbClr val="1E1E1E"/>
                </a:solidFill>
                <a:latin typeface="Arial"/>
              </a:defRPr>
            </a:pPr>
            <a:r>
              <a:t>Phase 5: Zero-Lag UI (Streamlit + Native Disk Sockets)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F3C96"/>
                </a:solidFill>
                <a:latin typeface="Arial"/>
              </a:defRPr>
            </a:pPr>
            <a:r>
              <a:t>Solving Crowd Occlusion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1E1E1E"/>
                </a:solidFill>
                <a:latin typeface="Arial"/>
              </a:defRPr>
            </a:pPr>
            <a:r>
              <a:t>YOLOv8: Real-time bounding box detection.</a:t>
            </a:r>
          </a:p>
          <a:p>
            <a:pPr>
              <a:spcAft>
                <a:spcPts val="1400"/>
              </a:spcAft>
              <a:defRPr sz="2400">
                <a:solidFill>
                  <a:srgbClr val="1E1E1E"/>
                </a:solidFill>
                <a:latin typeface="Arial"/>
              </a:defRPr>
            </a:pPr>
            <a:r>
              <a:t>ByteTrack: Uses Kalman Filters to predict movement during occlusion.</a:t>
            </a:r>
          </a:p>
          <a:p>
            <a:pPr>
              <a:spcAft>
                <a:spcPts val="1400"/>
              </a:spcAft>
              <a:defRPr sz="2400">
                <a:solidFill>
                  <a:srgbClr val="1E1E1E"/>
                </a:solidFill>
                <a:latin typeface="Arial"/>
              </a:defRPr>
            </a:pPr>
            <a:r>
              <a:t>Result: Target IDs stay alive even when completely hidden by crowds!</a:t>
            </a:r>
          </a:p>
        </p:txBody>
      </p:sp>
      <p:pic>
        <p:nvPicPr>
          <p:cNvPr id="4" name="Picture 3" descr="Graph_2_Kinetic_Reten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4564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F3C96"/>
                </a:solidFill>
                <a:latin typeface="Arial"/>
              </a:defRPr>
            </a:pPr>
            <a:r>
              <a:t>Biometric Invariance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1E1E1E"/>
                </a:solidFill>
                <a:latin typeface="Arial"/>
              </a:defRPr>
            </a:pPr>
            <a:r>
              <a:t>RetinaFace: 5-point alignment straightens tilted faces automatically.</a:t>
            </a:r>
          </a:p>
          <a:p>
            <a:pPr>
              <a:spcAft>
                <a:spcPts val="1400"/>
              </a:spcAft>
              <a:defRPr sz="2400">
                <a:solidFill>
                  <a:srgbClr val="1E1E1E"/>
                </a:solidFill>
                <a:latin typeface="Arial"/>
              </a:defRPr>
            </a:pPr>
            <a:r>
              <a:t>ArcFace 512D: Rejects FaceNet. Maps faces to a strict mathematical sphere.</a:t>
            </a:r>
          </a:p>
          <a:p>
            <a:pPr>
              <a:spcAft>
                <a:spcPts val="1400"/>
              </a:spcAft>
              <a:defRPr sz="2400">
                <a:solidFill>
                  <a:srgbClr val="1E1E1E"/>
                </a:solidFill>
                <a:latin typeface="Arial"/>
              </a:defRPr>
            </a:pPr>
            <a:r>
              <a:t>Result: 90%+ Accuracy maintained in low light and heavy makeup.</a:t>
            </a:r>
          </a:p>
        </p:txBody>
      </p:sp>
      <p:pic>
        <p:nvPicPr>
          <p:cNvPr id="4" name="Picture 3" descr="Graph_3_Biometric_Robust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4564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F3C96"/>
                </a:solidFill>
                <a:latin typeface="Arial"/>
              </a:defRPr>
            </a:pPr>
            <a:r>
              <a:t>Autonomous Spectral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1E1E1E"/>
                </a:solidFill>
                <a:latin typeface="Arial"/>
              </a:defRPr>
            </a:pPr>
            <a:r>
              <a:t>Humans manually guessing match thresholds is a legal liability.</a:t>
            </a:r>
          </a:p>
          <a:p>
            <a:pPr>
              <a:spcAft>
                <a:spcPts val="1400"/>
              </a:spcAft>
              <a:defRPr sz="2400">
                <a:solidFill>
                  <a:srgbClr val="1E1E1E"/>
                </a:solidFill>
                <a:latin typeface="Arial"/>
              </a:defRPr>
            </a:pPr>
            <a:r>
              <a:t>Algorithm calculates the Maximal Derivative Drop-Off between scores.</a:t>
            </a:r>
          </a:p>
          <a:p>
            <a:pPr>
              <a:spcAft>
                <a:spcPts val="1400"/>
              </a:spcAft>
              <a:defRPr sz="2400">
                <a:solidFill>
                  <a:srgbClr val="1E1E1E"/>
                </a:solidFill>
                <a:latin typeface="Arial"/>
              </a:defRPr>
            </a:pPr>
            <a:r>
              <a:t>Autonomously locks the threshold gate without human bias.</a:t>
            </a:r>
          </a:p>
        </p:txBody>
      </p:sp>
      <p:pic>
        <p:nvPicPr>
          <p:cNvPr id="4" name="Picture 3" descr="Graph_1_Spectral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4564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F3C96"/>
                </a:solidFill>
                <a:latin typeface="Arial"/>
              </a:defRPr>
            </a:pPr>
            <a:r>
              <a:t>The Rule of Law (Why NO GenAI?)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1E1E1E"/>
                </a:solidFill>
                <a:latin typeface="Arial"/>
              </a:defRPr>
            </a:pPr>
            <a:r>
              <a:t>Generative AI (GFPGAN) hallucinates fake pixels to sharpen blurry faces.</a:t>
            </a:r>
          </a:p>
          <a:p>
            <a:pPr>
              <a:spcAft>
                <a:spcPts val="1400"/>
              </a:spcAft>
              <a:defRPr sz="2400">
                <a:solidFill>
                  <a:srgbClr val="1E1E1E"/>
                </a:solidFill>
                <a:latin typeface="Arial"/>
              </a:defRPr>
            </a:pPr>
            <a:r>
              <a:t>Defense attorneys will successfully argue the evidence is manipulated.</a:t>
            </a:r>
          </a:p>
          <a:p>
            <a:pPr>
              <a:spcAft>
                <a:spcPts val="1400"/>
              </a:spcAft>
              <a:defRPr sz="2400">
                <a:solidFill>
                  <a:srgbClr val="1E1E1E"/>
                </a:solidFill>
                <a:latin typeface="Arial"/>
              </a:defRPr>
            </a:pPr>
            <a:r>
              <a:t>ClearSight strictly computes against authentic, unmanipulated pixels.</a:t>
            </a:r>
          </a:p>
          <a:p>
            <a:pPr>
              <a:spcAft>
                <a:spcPts val="1400"/>
              </a:spcAft>
              <a:defRPr sz="2400">
                <a:solidFill>
                  <a:srgbClr val="1E1E1E"/>
                </a:solidFill>
                <a:latin typeface="Arial"/>
              </a:defRPr>
            </a:pPr>
            <a:r>
              <a:t>Proves we don't need AI enhancements to confidently catch suspects.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F3C96"/>
                </a:solidFill>
                <a:latin typeface="Arial"/>
              </a:defRPr>
            </a:pPr>
            <a:r>
              <a:t>Zero-Lag Courtroom UI &amp; Video Triage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1E1E1E"/>
                </a:solidFill>
                <a:latin typeface="Arial"/>
              </a:defRPr>
            </a:pPr>
            <a:r>
              <a:t>Native Disk Sockets: Shrinks payload to 0.05MB, stopping browser freezes.</a:t>
            </a:r>
          </a:p>
          <a:p>
            <a:pPr>
              <a:spcAft>
                <a:spcPts val="1400"/>
              </a:spcAft>
              <a:defRPr sz="2400">
                <a:solidFill>
                  <a:srgbClr val="1E1E1E"/>
                </a:solidFill>
                <a:latin typeface="Arial"/>
              </a:defRPr>
            </a:pPr>
            <a:r>
              <a:t>Top-4 Split Strategy: Deep learning models occasionally lose tracking IDs.</a:t>
            </a:r>
          </a:p>
          <a:p>
            <a:pPr>
              <a:spcAft>
                <a:spcPts val="1400"/>
              </a:spcAft>
              <a:defRPr sz="2400">
                <a:solidFill>
                  <a:srgbClr val="1E1E1E"/>
                </a:solidFill>
                <a:latin typeface="Arial"/>
              </a:defRPr>
            </a:pPr>
            <a:r>
              <a:t>We present up to 4 top candidate videos instead of just 1.</a:t>
            </a:r>
          </a:p>
          <a:p>
            <a:pPr>
              <a:spcAft>
                <a:spcPts val="1400"/>
              </a:spcAft>
              <a:defRPr sz="2400">
                <a:solidFill>
                  <a:srgbClr val="1E1E1E"/>
                </a:solidFill>
                <a:latin typeface="Arial"/>
              </a:defRPr>
            </a:pPr>
            <a:r>
              <a:t>Allows human observers to visually verify the suspect from the best 4 angles!</a:t>
            </a:r>
          </a:p>
        </p:txBody>
      </p:sp>
      <p:pic>
        <p:nvPicPr>
          <p:cNvPr id="4" name="Picture 3" descr="Graph_4_RAM_Optim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828800"/>
            <a:ext cx="4572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F3C96"/>
                </a:solidFill>
                <a:latin typeface="Arial"/>
              </a:defRPr>
            </a:pPr>
            <a:r>
              <a:t>Conclusion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1E1E1E"/>
                </a:solidFill>
                <a:latin typeface="Arial"/>
              </a:defRPr>
            </a:pPr>
            <a:r>
              <a:t>Delivered a turnkey digital forensic tool integrating tracking, biometrics, and autonomous math.</a:t>
            </a:r>
          </a:p>
          <a:p>
            <a:pPr>
              <a:spcAft>
                <a:spcPts val="1400"/>
              </a:spcAft>
              <a:defRPr sz="2400">
                <a:solidFill>
                  <a:srgbClr val="1E1E1E"/>
                </a:solidFill>
                <a:latin typeface="Arial"/>
              </a:defRPr>
            </a:pPr>
            <a:r>
              <a:t>Overcame hardware VRAM limits (GTX 1650) via 'Strategic Biometric Stride'.</a:t>
            </a:r>
          </a:p>
          <a:p>
            <a:pPr>
              <a:spcAft>
                <a:spcPts val="1400"/>
              </a:spcAft>
              <a:defRPr sz="2400">
                <a:solidFill>
                  <a:srgbClr val="1E1E1E"/>
                </a:solidFill>
                <a:latin typeface="Arial"/>
              </a:defRPr>
            </a:pPr>
            <a:r>
              <a:t>Future: Scale to Smart-City RTSP networks.</a:t>
            </a:r>
          </a:p>
          <a:p>
            <a:pPr>
              <a:spcAft>
                <a:spcPts val="1400"/>
              </a:spcAft>
              <a:defRPr sz="2400">
                <a:solidFill>
                  <a:srgbClr val="1E1E1E"/>
                </a:solidFill>
                <a:latin typeface="Arial"/>
              </a:defRPr>
            </a:pPr>
            <a:r>
              <a:t>Future: FAISS Vector Databases for nationwide indexing in &lt;15ms.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0F3C96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